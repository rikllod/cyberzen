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8A82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234440" cy="41148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9019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4200" b="1">
                <a:solidFill>
                  <a:srgbClr val="161B22"/>
                </a:solidFill>
                <a:latin typeface="Arial"/>
              </a:rPr>
              <a:t>Milestone 1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3464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F4A59"/>
                </a:solidFill>
                <a:latin typeface="Arial"/>
              </a:rPr>
              <a:t>Literature review · framework assessment · data compendium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87952"/>
            <a:ext cx="7589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686"/>
                </a:solidFill>
                <a:latin typeface="Arial"/>
              </a:rPr>
              <a:t>A clean source-led deck: every finding uses an excerpt rendered directly from the cited paper, report, or official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7220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Arial"/>
              </a:rPr>
              <a:t>Prepared for the NCCR Muoniverse team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2"/>
                </a:solidFill>
                <a:latin typeface="Arial"/>
              </a:rPr>
              <a:t>Seven themes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564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686"/>
                </a:solidFill>
                <a:latin typeface="Arial"/>
              </a:rPr>
              <a:t>What the primary literature converges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4096512"/>
            <a:ext cx="109728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623620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Arial"/>
              </a:rPr>
              <a:t>Milestone 1 · source-led findings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No existing framework was designed for TRL 1–3</a:t>
            </a:r>
          </a:p>
        </p:txBody>
      </p:sp>
      <p:pic>
        <p:nvPicPr>
          <p:cNvPr id="9" name="Picture 8" descr="sourc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4409066" cy="34289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454786" cy="3474719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5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European Commission (2026), EIC Work Programme 2026, p. 26 (EIC Pathfinder).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EU's own 'earliest stage' instrument, Pathfinder, opens at the earliest stages of deep tech research — the stage is officially recognised.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But recognition is not a method: Pathfinder funds research consortia, not market discovery. The gap is procedural, not conceptual.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Question for interviews: who owns market discovery at TRL 1–3 in Switzerland? Cf. the Innosuisse stage slide (24) and the CRL slides (18–20).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03 /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Ecosystem, not policy, drives deep tech</a:t>
            </a:r>
          </a:p>
        </p:txBody>
      </p:sp>
      <p:pic>
        <p:nvPicPr>
          <p:cNvPr id="9" name="Picture 8" descr="sourc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4041868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087588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Micol, F., Leendertse, J. &amp; van Rijnsoever, F. (2026), Journal of Technology Transfer 51, pp. 2886–2915.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study's own abstract — specific knowledge and talent matter more for deep-tech startup emergence than formal institutions.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Deep tech clusters where research infrastructure and specialised people already are; policy quality alone does not move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Muoniverse reading: the PSI/ETH/EPFL density is the asset to build on. Open question: does that talent pool cover commercial roles, not only physics? Cf. slide 31.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04 /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TTOs: relationships beat transactions</a:t>
            </a:r>
          </a:p>
        </p:txBody>
      </p:sp>
      <p:pic>
        <p:nvPicPr>
          <p:cNvPr id="9" name="Picture 8" descr="sourc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328072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3373792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Chen, Z., Little, V. &amp; Thuan, N. (2025), Journal of Technology Transfer 50, pp. 1060–1079.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Chen et al.'s term 'playmakers' — TTOs that translate science through relationships across the innovation ecosystem.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Transfer behaves as an orchestration capability, not a licensing-desk function; the survival panel reaches the same conclusion independently (slide 34).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Interview probe: is PSI's knowledge-transfer office resourced and measured for orchestration, or for transactions (patents, licences)?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05 /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Structured frameworks work — if adapted</a:t>
            </a:r>
          </a:p>
        </p:txBody>
      </p:sp>
      <p:pic>
        <p:nvPicPr>
          <p:cNvPr id="9" name="Picture 8" descr="sourc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132716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178436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Hayter, C. S. et al. (2025), Journal of Technology Transfer, DOI 10.1007/s10961-025-10288-6.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Hayter et al. trace I-Corps-style programs — structured customer discovery — spreading across national systems.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A standardised methodology travels, and every adopter adapts it locally: structure wins over ad hoc, but not unchanged.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Design tension for Milestone 2: methodology-driven (I-Corps) vs mentor-driven (Innosuisse, slide 22). Which fits a physics NCCR?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06 /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Configuring support matters more than providing it</a:t>
            </a:r>
          </a:p>
        </p:txBody>
      </p:sp>
      <p:pic>
        <p:nvPicPr>
          <p:cNvPr id="9" name="Picture 8" descr="sourc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196793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242513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Seitz, N. et al. (2026), Review of Managerial Science, DOI 10.1007/s11846-026-01017-w, Table of moderator effects.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moderator rows — university incubators (r = 0.118) outperform generic ones; mentoring's coefficient is slightly negative (−0.012).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variable is not support volume but configuration: who hosts it and what it connects you to. Negative mentoring reads as opportunity cost of founder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Pairs with the advisor coefficients on slide 33 — two independent studies question 'add more mentors' as a strategy.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07 /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Market is the binding constraint</a:t>
            </a:r>
          </a:p>
        </p:txBody>
      </p:sp>
      <p:pic>
        <p:nvPicPr>
          <p:cNvPr id="9" name="Picture 8" descr="sourc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152029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197749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Capatina, A., Bleoju, G. &amp; Kalisz, D. (2024), Journal of Innovation &amp; Knowledge 9, 100515.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in the structural model, market features drive foresight capability hardest (path = 0.514), ahead of technology features.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mechanism is capability-building: market signals teach firms to see where the technology could go — firm-internal factors were not significant.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For muon applications with no existing market, that foresight process must be organised deliberately. Cf. the flipped-Lean answer, slide 17.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08 /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Commercial exposure from day one</a:t>
            </a:r>
          </a:p>
        </p:txBody>
      </p:sp>
      <p:pic>
        <p:nvPicPr>
          <p:cNvPr id="9" name="Picture 8" descr="sourc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439190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43762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Cantner, U. et al. (2024), Small Business Economics 62, pp. 1555–1590.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in Cantner's panel, the commercial sphere outweighs the academic sphere from the very outset of spin-off creation.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This falsifies 'research first, commercialise later' sequencing — commercial capability is built in parallel, not afterwards.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Hard question for muons: what is commercial exposure when the product is 10–20 years out? A Milestone 2 interview anchor; cf. slide 41.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09 / 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Advisor type matters more than quantity</a:t>
            </a:r>
          </a:p>
        </p:txBody>
      </p:sp>
      <p:pic>
        <p:nvPicPr>
          <p:cNvPr id="9" name="Picture 8" descr="sourc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60761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65333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Denoo, L., Van Boxstael, A. &amp; Belz, A. (2024), Journal of Technology Transfer 49, pp. 1567–1605.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each business advisor raises application readiness by ~0.23; each technology advisor lowers it by ~0.31.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Counterintuitive but consistent with Theme 4: at early stages the scarce input is business framing, not more technical validation.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Implication for the NCCR advisor pool: recruit advisors who have priced deep-tech markets, not more professors. Cf. slide 7.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10 / 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Europe's structural barriers</a:t>
            </a:r>
          </a:p>
        </p:txBody>
      </p:sp>
      <p:pic>
        <p:nvPicPr>
          <p:cNvPr id="9" name="Picture 8" descr="sourc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Stryber (2025), Deep Tech commercialization in Europe: the gap, the challenge, and the fix.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European deep tech firms secured a fraction of US capital — €58B vs €215B over the report's window.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gap is structural — investor risk appetite and failure stigma, not just fund volume; capital alone cannot close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Switzerland leads per capita (slide 35), but late-stage rounds still face EU-scale limits; cf. restored EIC access, slide 26.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11 / 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Deep tech needs 35% more time, 48% more capital</a:t>
            </a:r>
          </a:p>
        </p:txBody>
      </p:sp>
      <p:pic>
        <p:nvPicPr>
          <p:cNvPr id="9" name="Picture 8" descr="sourc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537960" cy="293961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583680" cy="2985331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490787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UNDP (2025), Global Deep Tech Ecosystems: Catalyzing Innovation for Sustainable Development, p. 54.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deep tech takes on average 35% more time and 48% more capital to reach equivalent milestones.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That premium is an average across all deep tech — physics ventures sit further into the tail of both distributions.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Design constraint for every instrument in this deck: BRIDGE runs 12 months, VC funds 3–5 years. Cf. slides 37 and 41.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12 / 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Converging on what deep tech is</a:t>
            </a:r>
          </a:p>
        </p:txBody>
      </p:sp>
      <p:pic>
        <p:nvPicPr>
          <p:cNvPr id="9" name="Picture 8" descr="sourc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050136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095856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Kortsch, J. et al. (2024), Deep-Tech Innovation: A Multi-Method Study, MIT Sloan / University of Münster.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twelve defining attributes structured across technology, venture and ecosystem levels — the field is converging on a definition.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Convergence is what makes cross-study comparison legitimate; muon technology satisfies the technology-side attributes by construction.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Use the three levels as the interview sampling frame: each level names different actors to talk 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13 / 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2"/>
                </a:solidFill>
                <a:latin typeface="Arial"/>
              </a:rPr>
              <a:t>Four frameworks, one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564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686"/>
                </a:solidFill>
                <a:latin typeface="Arial"/>
              </a:rPr>
              <a:t>RCA / Imperial · CRL · Innosuisse · EIC · candidates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4096512"/>
            <a:ext cx="109728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623620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Arial"/>
              </a:rPr>
              <a:t>Milestone 1 · source-led findings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The official pipeline starts at TRL 1 — but scale-up begins later</a:t>
            </a:r>
          </a:p>
        </p:txBody>
      </p:sp>
      <p:pic>
        <p:nvPicPr>
          <p:cNvPr id="9" name="Picture 8" descr="sourc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European Innovation Council (2026), EIC Accelerator official programme page.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EU's flagship commercial instrument, the Accelerator, requires TRL 6–8 — demonstration, not discovery.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official pipeline funds research early (Pathfinder) but starts commercial support only at TRL 5–6: the commercial gap is precisely TRL 1–3.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This slide is the thesis's central finding; the rest of the deck maps what exists on each side of that gap.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15 / 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RCA/Imperial: a cluster, not a program</a:t>
            </a:r>
          </a:p>
        </p:txBody>
      </p:sp>
      <p:pic>
        <p:nvPicPr>
          <p:cNvPr id="9" name="Picture 8" descr="sourc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517654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563374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Imperial College London, DT Prime, Institute for Deep Tech Entrepreneurship (official page).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DT Prime's official page — turning breakthrough research into investable ventures with non-dilutive funding.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It is a venture builder attached to a university, not a course: governance and capital sit alongside the methodology.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Benchmark question for November: could an equivalent attach to PSI? The methodology transfers; the institution does not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16 / 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RCA/Imperial: 'flipping' Lean Startup</a:t>
            </a:r>
          </a:p>
        </p:txBody>
      </p:sp>
      <p:pic>
        <p:nvPicPr>
          <p:cNvPr id="9" name="Picture 8" descr="sourc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4816866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862586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Blank, S. (2023), Lean Meets Wicked Problems, Steve Blank blog / Imperial College Business School class account.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Blank's own account of adapting Lean for wicked problems — technology first, then the search for applications.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flip inverts classic lean: instead of starting from a customer problem, you start from a capability and hunt for contexts where it matters.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Key open issue: what replaces customer discovery when no customer exists yet — Blank's answer is lead and extreme users.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17 / 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CRL: the 9-point commercial scale</a:t>
            </a:r>
          </a:p>
        </p:txBody>
      </p:sp>
      <p:pic>
        <p:nvPicPr>
          <p:cNvPr id="9" name="Picture 8" descr="sourc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863434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3909154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NITI Aayog (2023), A New Lens for Innovation in New India: TCRM Matrix, p. 31.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CRL codified 1–9, from basic value proposition to real market competitiveness — a government found it useful enough to operationalise.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Practitioner traction despite no peer-reviewed origin is itself a finding: there is real demand for a commercial axis to complement TRL.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CRL 1–3 (opportunity recognition → market sizing) maps onto the thesis's target stage; read against the TRL table, slide 39.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18 / 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CRL: the documentation problem</a:t>
            </a:r>
          </a:p>
        </p:txBody>
      </p:sp>
      <p:pic>
        <p:nvPicPr>
          <p:cNvPr id="9" name="Picture 8" descr="sourc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537960" cy="288973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583680" cy="2935455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440911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Deep Tech Leaders (2025), TRL, MRL &amp; CRL Explained, Part 1, p. 8.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secondary sources describing and propagating CRL — none of them cites a primary, peer-reviewed source.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Adoption by citation chain without a canonical paper: building analysis on it requires explicit methodological honesty.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Thesis position: CRL is treated as a practitioner framework, not a validated instrument — stated openly in the assessment.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19 / 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CRL: the commercial dimension TRL misses</a:t>
            </a:r>
          </a:p>
        </p:txBody>
      </p:sp>
      <p:pic>
        <p:nvPicPr>
          <p:cNvPr id="9" name="Picture 8" descr="sourc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4260070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305790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NITI Aayog (2023), TCRM Matrix, p. 32 (identifying the limits of TRL and the need for commercial readiness).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even NITI's motivation mirrors the thesis — TRL accounts only for technical readiness, not commercial readiness.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criticism is validated; the remedy is thin: CRL describes where you are, not what to do next — no rubric or checklist exists.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Milestone 2 opening: ask actors how they actually gauge commercial readiness — a detector can be TRL 9 and CRL 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20 / 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Innosuisse: the native Swiss framework</a:t>
            </a:r>
          </a:p>
        </p:txBody>
      </p:sp>
      <p:pic>
        <p:nvPicPr>
          <p:cNvPr id="9" name="Picture 8" descr="sourc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4568682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614402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Innosuisse (official), Start-up Coaching overview.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official Start-up Coaching offer aimed at young companies — the instrument every Swiss venture touches.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design is a voucher system: flexibility and founder choice, rather than a standardised curriculum.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3899915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826763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Cf. slide 28: Switzerland chose mentor-driven over methodology-driven — a deliberate contrast for the benchmarking.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21 / 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Innosuisse: bespoke, voucher-based coaching</a:t>
            </a:r>
          </a:p>
        </p:txBody>
      </p:sp>
      <p:pic>
        <p:nvPicPr>
          <p:cNvPr id="9" name="Picture 8" descr="sourc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Innosuisse (official), Start-up Coaching overview, voucher-based programme description.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initial coaching is a voucher (up to CHF 10,000) with which founders choose accredited coaches themselves.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Demand-side design presupposes informed demand — at TRL 1–3, scientists may not yet know what support they need.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3899915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826763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Interview probe: how many accredited coaches have priced particle-physics applications? Supply of relevant expertise is the test.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22 / 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Innosuisse: KOF-verified causal effect</a:t>
            </a:r>
          </a:p>
        </p:txBody>
      </p:sp>
      <p:pic>
        <p:nvPicPr>
          <p:cNvPr id="9" name="Picture 8" descr="sourc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095999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141719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Hulfeld, F., Spescha, A. &amp; Wörter, M. (KOF ETH Zurich, 2024), Funding R&amp;D Cooperation between Firms and Universities.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KOF difference-in-differences estimate — +20.7% sales on average five years after funding.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Rare causal evidence in this field, and the effect grows with time — consistent with patient, compounding returns.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Boundary condition: strongest for small firms working with ETH-domain partners — evidence about firms, silent on pre-founding TRL 1–3.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23 / 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Innosuisse support is stage-specific</a:t>
            </a:r>
          </a:p>
        </p:txBody>
      </p:sp>
      <p:pic>
        <p:nvPicPr>
          <p:cNvPr id="9" name="Picture 8" descr="sourc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Innosuisse (official), Start-up Coaching overview — stage-specific support and durations.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coaching ladder — initial, core, scale-up — where every rung presupposes an existing young company.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Before founding there is no rung: the gap is stage mismatch inside a well-run system, not a missing system.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3899915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826763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With BRIDGE (slide 37): proof-of-concept money exists but runs 12 months — cf. UNDP's +35% time premium, slide 41.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24 / 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EIC Accelerator: TRL 6–8</a:t>
            </a:r>
          </a:p>
        </p:txBody>
      </p:sp>
      <p:pic>
        <p:nvPicPr>
          <p:cNvPr id="9" name="Picture 8" descr="sourc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European Innovation Council (official), EIC Accelerator programme page.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Accelerator's own terms — TRL 6–8, blended finance (grant + equity), single-digit success 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For muon ventures this is a later-stage target, not an entry point; the pathway runs Pathfinder → Transition → Accelerator.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Sequencing, not any single instrument, is the operative design question; cf. Swiss eligibility, slide 26.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25 / 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EIC: Switzerland fully eligible since Jan 2025</a:t>
            </a:r>
          </a:p>
        </p:txBody>
      </p:sp>
      <p:pic>
        <p:nvPicPr>
          <p:cNvPr id="9" name="Picture 8" descr="sourc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European Commission (official), International cooperation with Switzerland in research and innovation.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Switzerland associated to Horizon Europe 'on similar terms with EU Member States' — full eligibility restored.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EU pipeline is a real option again for Swiss ventures; recent EIC winners confirm actual uptake.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3899915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826763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Interview probe: which PSI-adjacent teams already coordinate EU consortia — capability, not just eligibility, gates access.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26 / 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Candidate: CERN Venture Connect</a:t>
            </a:r>
          </a:p>
        </p:txBody>
      </p:sp>
      <p:pic>
        <p:nvPicPr>
          <p:cNvPr id="9" name="Picture 8" descr="sourc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Stryber (2025), Deep Tech commercialization in Europe — source identifying CERN Venture Connect as a relevant institutional 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CERN's Venture Connect lead among the study's expert sources — CERN is actively building a venture path for particle physics.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closest institutional sibling to Muoniverse: same science, same pre-market problem, answered with a curated, zero-equity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November benchmarking target: what transfers from CERN's portfolio curation to a Swiss NCCR context?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27 / 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Candidate: NSF I-Corps</a:t>
            </a:r>
          </a:p>
        </p:txBody>
      </p:sp>
      <p:pic>
        <p:nvPicPr>
          <p:cNvPr id="9" name="Picture 8" descr="sourc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091545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137265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Hayter, C. S. et al. (2025), Journal of Technology Transfer, p. 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I-Corps' core as Hayter et al. document it — structured customer discovery and business model development.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It is a methodology rather than an institution: adoptable without new bodies, which makes it the cheapest candidate to pilot.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Open question: does a 7-week customer-discovery sprint fit muon validation cycles? Cf. flipped Lean, slide 17.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28 / 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2"/>
                </a:solidFill>
                <a:latin typeface="Arial"/>
              </a:rPr>
              <a:t>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564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686"/>
                </a:solidFill>
                <a:latin typeface="Arial"/>
              </a:rPr>
              <a:t>Statistical evidence behind the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4096512"/>
            <a:ext cx="109728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623620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Arial"/>
              </a:rPr>
              <a:t>Milestone 1 · source-led findings deck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Market features dominate (β = 0.514)</a:t>
            </a:r>
          </a:p>
        </p:txBody>
      </p:sp>
      <p:pic>
        <p:nvPicPr>
          <p:cNvPr id="9" name="Picture 8" descr="sourc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152029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197749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Capatina, A., Bleoju, G. &amp; Kalisz, D. (2024), Journal of Innovation &amp; Knowledge 9, 100515, structural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coefficient hierarchy — market features 0.514 vs technology ~0.31; firm-internal features not significant.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Market-side variance explains the foresight capability outcome (R² = 0.47); the internal factors managers control directly did not register.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Caveat for the thesis: cross-sectional PLS-SEM, n = 110 — association, not causation. Would it replicate for physics ventures?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30 / 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Talent and knowledge drive deep tech</a:t>
            </a:r>
          </a:p>
        </p:txBody>
      </p:sp>
      <p:pic>
        <p:nvPicPr>
          <p:cNvPr id="9" name="Picture 8" descr="sourc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650404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3696124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Micol, F., Leendertse, J. &amp; van Rijnsoever, F. (2026), Journal of Technology Transfer, Table 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regression table — specific knowledge and talent significant; formal institutions not, across 272 regions.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significant predictors are slow variables: research infrastructure and people accumulate over decades, not funding cycles.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Swiss reading: one very strong node (PSI/ETH/EPFL) — is that concentration a leverage point or a single-point fragility?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31 / 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Incubation: type and age matter</a:t>
            </a:r>
          </a:p>
        </p:txBody>
      </p:sp>
      <p:pic>
        <p:nvPicPr>
          <p:cNvPr id="9" name="Picture 8" descr="sourc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196793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242513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Seitz, N. et al. (2026), Review of Managerial Science, moderator 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moderator rows — university incubators 0.118 vs generic 0.067; incubators older than 20 years reach 0.183.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Networks compound: incubator age nearly doubles the effect — evidence the real asset is accumulated relationships.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A new PSI-hosted incubator starts at age zero; renting maturity through partners (CERN, ETH) may beat building it. Cf. slide 27.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32 / 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Advisors: business +0.23, technology −0.31</a:t>
            </a:r>
          </a:p>
        </p:txBody>
      </p:sp>
      <p:pic>
        <p:nvPicPr>
          <p:cNvPr id="9" name="Picture 8" descr="sourc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612832" cy="34289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658552" cy="3474719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5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Denoo, L., Van Boxstael, A. &amp; Belz, A. (2024), Journal of Technology Transfer, p. 1585.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substitution rate — roughly four business advisors advance application readiness by one full unit.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Advisor design becomes arithmetic: the question is not whether advisors help, but which type and in what ratio.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3899915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826763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Boundary condition: n = 112 ventures; the outcome is readiness, not survival. What a business advisor does pre-product is untested.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33 / 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TTOs become playmakers through relationships</a:t>
            </a:r>
          </a:p>
        </p:txBody>
      </p:sp>
      <p:pic>
        <p:nvPicPr>
          <p:cNvPr id="9" name="Picture 8" descr="sourc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328072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3373792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Chen, Z., Little, V. &amp; Thuan, N. (2025), Journal of Technology Transfer, p. 1075.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playmaker mechanism — relationships within the wider university innovation-service ecosystem.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Two literatures converge: Chen supplies the mechanism; the survival panel (business relationships, p = 0.0034) supplies the magnitude.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Measurement implication: a TTO's KPIs could count ties built and introductions made — not only patents filed.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34 / 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Switzerland: #1 per capita, 3× the runner-up</a:t>
            </a:r>
          </a:p>
        </p:txBody>
      </p:sp>
      <p:pic>
        <p:nvPicPr>
          <p:cNvPr id="9" name="Picture 8" descr="sourc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419518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3465238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Deep Tech Nation Switzerland / Dealroom.co (2025), Swiss Deep Tech Report 2025, via Swiss Startup Association reproduction.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60% of Swiss venture funding flows to deep tech — the highest share of any country.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246120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17296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ecosystem is deep-tech-native: capital preference, per-capita spinout value (100 vs 33 for the runner-up), top-ranked universities.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3899915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826763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Tension with slides 40–41: strength at formation — but will Swiss capital hold for 10–20-year physics timelines? An interview anchor.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35 / 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Innosuisse Innovation Projects: 57% launch rate</a:t>
            </a:r>
          </a:p>
        </p:txBody>
      </p:sp>
      <p:pic>
        <p:nvPicPr>
          <p:cNvPr id="9" name="Picture 8" descr="sourc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841749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3887469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Innosuisse (2025), Impact monitoring 2021–2023.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57% of innovation projects reach market launch within three years of funding ending.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246120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17296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Solid conversion — but the sample is existing firm–university R&amp;D consortia; selection happens before the statistic.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3899915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826763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metric counts launches, not scale — and for muon ventures the whole 3-year window is pre-market. Cf. slide 41.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36 / 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BRIDGE PoC: 70% founding rate</a:t>
            </a:r>
          </a:p>
        </p:txBody>
      </p:sp>
      <p:pic>
        <p:nvPicPr>
          <p:cNvPr id="9" name="Picture 8" descr="sourc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Innosuisse (2025), Impact monitoring 2021–2023, BRIDGE Proof of Concept.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around 70% of BRIDGE-supported researchers go on to found a startup — the highest conversion of any instrument.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Willingness is not the bottleneck: when an instrument fits the stage, researchers do found companies.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3899915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826763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The 12-month, CHF 130K format proves the concept — and its boundary: muon validation cycles outlast the window.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37 / 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KOF causal effect: +20.7% sales, +17.6% employment</a:t>
            </a:r>
          </a:p>
        </p:txBody>
      </p:sp>
      <p:pic>
        <p:nvPicPr>
          <p:cNvPr id="9" name="Picture 8" descr="sourc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095999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141719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Hulfeld, F., Spescha, A. &amp; Wörter, M. (KOF ETH Zurich, 2024), causal difference-in-differences result.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20.7% average sales effect; within the panel it rises from +7.8% (yr 0) toward ~28% (yr 4).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Compounding returns argue for patient evaluation: a short measurement window would score these projects as failures.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Same boundary as slide 23: significant for small firms with ETH-domain partners; silent on the pre-founding stage this thesis targets.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38 / 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The TRL 1–3 gap, visualized</a:t>
            </a:r>
          </a:p>
        </p:txBody>
      </p:sp>
      <p:pic>
        <p:nvPicPr>
          <p:cNvPr id="9" name="Picture 8" descr="sourc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987985" cy="34289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033705" cy="3474719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5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NITI Aayog (2023), TCRM Matrix, p. 30 (TRL scale).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TRL scale itself — from 'basic principles observed' to 'proven in operations'.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246120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17296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Nothing in the nine levels asks whether anyone would buy the technology: it measures maturity of proof, not of market.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3899915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826763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Read side-by-side with the CRL table (slide 18): together they give the thesis its two-axis readiness framing.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39 / 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EU vs US: a 3.7× capital gap</a:t>
            </a:r>
          </a:p>
        </p:txBody>
      </p:sp>
      <p:pic>
        <p:nvPicPr>
          <p:cNvPr id="9" name="Picture 8" descr="sourc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Stryber (2025), Deep Tech commercialization in Europe.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European deep tech secured €58B against the US €215B — with investor behaviour explaining part of the difference.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415284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342132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Stacked on the +48% capital premium (slide 41), the distance to the same milestone is multiplicative, not additive.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069080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99592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Switzerland's 60% deep-tech share (slide 35) is the national answer — yet Series B scale still leaks to larger pools. Interview probe.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40 / 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Deep tech: +35% time, +48% capital</a:t>
            </a:r>
          </a:p>
        </p:txBody>
      </p:sp>
      <p:pic>
        <p:nvPicPr>
          <p:cNvPr id="9" name="Picture 8" descr="sourc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537960" cy="29588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583680" cy="3004544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10000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UNDP (2025), Global Deep Tech Ecosystems, p. 54.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61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88336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What the excerpt shows: the UNDP quantification — 35% more time and 48% more capital for equivalent milestones.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246120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172968"/>
            <a:ext cx="3840480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Every instrument in this deck is shorter than the asset it supports: coaching 36 months, BRIDGE 12, VC funds 3–5 years.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3899915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3826763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4A59"/>
                </a:solidFill>
                <a:latin typeface="Arial"/>
              </a:rPr>
              <a:t>This number is the design constraint the thesis answers with sequencing — see the EIC pathway, slides 25–26.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41 / 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2316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61B22"/>
                </a:solidFill>
                <a:latin typeface="Arial"/>
              </a:rPr>
              <a:t>Source-led evidence → interview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F4A59"/>
                </a:solidFill>
                <a:latin typeface="Arial"/>
              </a:rPr>
              <a:t>The practical conclusion: early-TRL physics commercialization is not missing ideas — it is missing a support architecture designed for the gap.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F8A82"/>
                </a:solidFill>
                <a:latin typeface="Arial"/>
              </a:rPr>
              <a:t>Next: Milestone 2 interviews · September 1,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709160"/>
            <a:ext cx="1188720" cy="36576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172200"/>
            <a:ext cx="9144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Arial"/>
              </a:rPr>
              <a:t>All source excerpts are embedded from the primary PDFs/pages listed beneath each image.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