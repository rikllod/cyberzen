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8A82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234440" cy="41148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9019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4200" b="1">
                <a:solidFill>
                  <a:srgbClr val="161B22"/>
                </a:solidFill>
                <a:latin typeface="Arial"/>
              </a:rPr>
              <a:t>Milestone 1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3464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F4A59"/>
                </a:solidFill>
                <a:latin typeface="Arial"/>
              </a:rPr>
              <a:t>Literature review · framework assessment · data compendium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87952"/>
            <a:ext cx="7589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686"/>
                </a:solidFill>
                <a:latin typeface="Arial"/>
              </a:rPr>
              <a:t>A clean source-led deck: every finding uses an excerpt rendered directly from the cited paper, report, or official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7220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Arial"/>
              </a:rPr>
              <a:t>Prepared for the NCCR Muoniverse team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2"/>
                </a:solidFill>
                <a:latin typeface="Arial"/>
              </a:rPr>
              <a:t>Seven themes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564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686"/>
                </a:solidFill>
                <a:latin typeface="Arial"/>
              </a:rPr>
              <a:t>What the primary literature converges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4096512"/>
            <a:ext cx="109728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623620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Arial"/>
              </a:rPr>
              <a:t>Milestone 1 · source-led findings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No existing framework was designed for TRL 1–3</a:t>
            </a:r>
          </a:p>
        </p:txBody>
      </p:sp>
      <p:pic>
        <p:nvPicPr>
          <p:cNvPr id="9" name="Picture 8" descr="sourc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409066" cy="34289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454786" cy="3474719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5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European Commission (2026), EIC Work Programme 2026, p. 26 (EIC Pathfinder).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The space where NCCR Muoniverse operates — fundamental physics at TRL 1–3 — is precisely where no commercialization framework was designed to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Every framework assessed (RCA/Imperial, CRL, Innosuisse, EIC) has a structural gap at this stage.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This gap is the thesis's core motivation: identify what support mechanisms fill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03 /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Ecosystem, not policy, drives deep tech</a:t>
            </a:r>
          </a:p>
        </p:txBody>
      </p:sp>
      <p:pic>
        <p:nvPicPr>
          <p:cNvPr id="9" name="Picture 8" descr="sourc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041868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087588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Micol, F., Leendertse, J. &amp; van Rijnsoever, F. (2026), Journal of Technology Transfer 51, pp. 2886–2915.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The primary study finds that specific deep-tech knowledge and talent matter more for startup emergence than generic ecosystem quality or formal institutions.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Its regional analysis covers 272 European NUTS-2 regions and 1,605 deep-tech startups.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For Switzerland, specialized research infrastructure and talent concentration are strategic assets.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04 /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TTOs: relationships beat transactions</a:t>
            </a:r>
          </a:p>
        </p:txBody>
      </p:sp>
      <p:pic>
        <p:nvPicPr>
          <p:cNvPr id="9" name="Picture 8" descr="sourc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328072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373792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Chen, Z., Little, V. &amp; Thuan, N. (2025), Journal of Technology Transfer 50, pp. 1060–1079.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Chen et al. describe TTOs as actors that translate science into commercially and socially valuable outcomes.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The playmaker role is relational: TTOs build relationships across the wider university innovation-service ecosystem.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PSI's TTO should be designed as an active orchestrator, not only a transaction desk.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05 /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Structured frameworks work — if adapted</a:t>
            </a:r>
          </a:p>
        </p:txBody>
      </p:sp>
      <p:pic>
        <p:nvPicPr>
          <p:cNvPr id="9" name="Picture 8" descr="sourc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132716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178436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Hayter, C. S. et al. (2025), Journal of Technology Transfer, DOI 10.1007/s10961-025-10288-6.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I-Corps (lean + customer discovery, 7-week immersion) independently adopted in 8 countries — a natural experiment: structured works, but every system adapted it locally.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Frameworks need explicit abandon/pivot decision points — sunk-cost protection on 5–15 yr timelines.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100 customer interviews in 9 weeks = paradigm shift in scientists' market understanding.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06 /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Configuring support matters more than providing it</a:t>
            </a:r>
          </a:p>
        </p:txBody>
      </p:sp>
      <p:pic>
        <p:nvPicPr>
          <p:cNvPr id="9" name="Picture 8" descr="sourc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196793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242513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Seitz, N. et al. (2026), Review of Managerial Science, DOI 10.1007/s11846-026-01017-w, Table of moderator effects.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3 effective configurations of 5 orchestration functions — no single configuration is universally optimal.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Founders value mentors (64%) and customer intros (61%) above investment (37%) — capital is NOT Europe's scarcest resource.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Networking helps (r = 0.071); more mentoring can even reduce performance (opportunity cost).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07 /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Market is the binding constraint</a:t>
            </a:r>
          </a:p>
        </p:txBody>
      </p:sp>
      <p:pic>
        <p:nvPicPr>
          <p:cNvPr id="9" name="Picture 8" descr="sourc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152029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197749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Capatina, A., Bleoju, G. &amp; Kalisz, D. (2024), Journal of Innovation &amp; Knowledge 9, 100515.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Market features (β = 0.514) predict success nearly 2× better than technology features (β = 0.310).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Firm internal factors (team quality, management) are NOT significant.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Cantner (n = 1,149): the commercial sphere dominates from day one of spin-off creation.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For muons: finding applications beats scientific excellence.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08 /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Commercial exposure from day one</a:t>
            </a:r>
          </a:p>
        </p:txBody>
      </p:sp>
      <p:pic>
        <p:nvPicPr>
          <p:cNvPr id="9" name="Picture 8" descr="sourc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39190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43762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Cantner, U. et al. (2024), Small Business Economics 62, pp. 1555–1590.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Dominance analysis: commercial sphere (industry contacts, market knowledge) dominates from the very outset — not in later stages.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Challenges the assumption 'research first, commercialize later' — empirically wrong.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Support design principle: start commercial exposure immediately.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09 /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Advisor type matters more than quantity</a:t>
            </a:r>
          </a:p>
        </p:txBody>
      </p:sp>
      <p:pic>
        <p:nvPicPr>
          <p:cNvPr id="9" name="Picture 8" descr="sourc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60761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65333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Denoo, L., Van Boxstael, A. &amp; Belz, A. (2024), Journal of Technology Transfer 49, pp. 1567–1605.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Each business advisor: +0.23 application-readiness units (p = 0.04).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Each technology advisor: −0.31 units (p = 0.05) — actively delays.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4 business advisors ≈ +1 full unit ≈ 15 years of entrepreneurial experience.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Counterintuitive but evidence-based: limit tech advisors, prioritize business advisors.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10 / 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Europe's structural barriers</a:t>
            </a:r>
          </a:p>
        </p:txBody>
      </p:sp>
      <p:pic>
        <p:nvPicPr>
          <p:cNvPr id="9" name="Picture 8" descr="sourc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Stryber (2025), Deep Tech commercialization in Europe: the gap, the challenge, and the fix.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€58B EU deep tech VC vs €215B US — a 3.7× gap.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62% of EU investors reject failed founders vs 23% US; 15% vs 45% of PhDs pursue startups.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12% vs 40% of corporations engage with deep tech.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Cultural and structural — cannot be fixed by capital alone.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11 / 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Deep tech needs 35% more time, 48% more capital</a:t>
            </a:r>
          </a:p>
        </p:txBody>
      </p:sp>
      <p:pic>
        <p:nvPicPr>
          <p:cNvPr id="9" name="Picture 8" descr="sourc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537960" cy="293961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583680" cy="2985331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90787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UNDP (2025), Global Deep Tech Ecosystems: Catalyzing Innovation for Sustainable Development, p. 54.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Deep tech takes 35% more time and 48% more capital to reach equivalent milestones.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These compound with European structural deficits: 3–5 yr VC fund cycles clash with deep tech timelines.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Muon tech's 10–20 yr horizon exceeds every Swiss instrument's design parameters.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12 / 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Converging on what deep tech is</a:t>
            </a:r>
          </a:p>
        </p:txBody>
      </p:sp>
      <p:pic>
        <p:nvPicPr>
          <p:cNvPr id="9" name="Picture 8" descr="sourc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050136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095856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Kortsch, J. et al. (2024), Deep-Tech Innovation: A Multi-Method Study, MIT Sloan / University of Münster.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12 defining attributes across 3 levels: technology (science-based, hardware, platforms), venture (5–15+ yr timelines, capital intensity), ecosystem (knowledge, talent, infrastructure).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Cabanes: deep tech as a 'performative innovation regime' — patient capital, long-term partnerships, ecosystem orchestration.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Definitional convergence legitimizes a physics-specific commercialization lens.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13 / 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2"/>
                </a:solidFill>
                <a:latin typeface="Arial"/>
              </a:rPr>
              <a:t>Four frameworks, one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564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686"/>
                </a:solidFill>
                <a:latin typeface="Arial"/>
              </a:rPr>
              <a:t>RCA / Imperial · CRL · Innosuisse · EIC · candidates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4096512"/>
            <a:ext cx="109728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623620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Arial"/>
              </a:rPr>
              <a:t>Milestone 1 · source-led findings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The official pipeline starts at TRL 1 — but scale-up begins later</a:t>
            </a:r>
          </a:p>
        </p:txBody>
      </p:sp>
      <p:pic>
        <p:nvPicPr>
          <p:cNvPr id="9" name="Picture 8" descr="sourc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European Innovation Council (2026), EIC Accelerator official programme page.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RCA/Imperial: designed for TRL 4–6. CRL: conceptually 1–9 but operationally thin. Innosuisse: optimized for TRL 4–7. EIC Accelerator: TRL 5+.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The space where Muoniverse operates is where no framework was designed to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Thesis contribution: adapt/combine existing frameworks to reach this unaddressed space.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15 /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RCA/Imperial: a cluster, not a program</a:t>
            </a:r>
          </a:p>
        </p:txBody>
      </p:sp>
      <p:pic>
        <p:nvPicPr>
          <p:cNvPr id="9" name="Picture 8" descr="sourc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517654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563374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Imperial College London, DT Prime, Institute for Deep Tech Entrepreneurship (official page).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4 components: Innovation Challenge (1-week MBA), Wicked Module (1-month, with Steve Blank 2023), Wicked Acceleration Labs (WAL), DT Prime (£50–500K non-dilutive venture builder).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The Challenge is a pedagogical exercise, not a spin-off mechanism.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Methodology transferable; structure is not (institution-bound, MBA/design students).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16 / 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RCA/Imperial: 'flipping' Lean Startup</a:t>
            </a:r>
          </a:p>
        </p:txBody>
      </p:sp>
      <p:pic>
        <p:nvPicPr>
          <p:cNvPr id="9" name="Picture 8" descr="sourc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816866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862586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Blank, S. (2023), Lean Meets Wicked Problems, Steve Blank blog / Imperial College Business School class account.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Standard Lean Startup starts with a customer problem; deep tech starts with a technology capability and often NO existing market.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WAL inverts the logic: technology-first speculative design → then validate with lead/extreme users.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Endorsed by Steve Blank as a legitimate evolution for deep tech.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The key asset NCCR Muoniverse should adopt: the flipped methodology.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17 / 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CRL: the 9-point commercial scale</a:t>
            </a:r>
          </a:p>
        </p:txBody>
      </p:sp>
      <p:pic>
        <p:nvPicPr>
          <p:cNvPr id="9" name="Picture 8" descr="sourc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863434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909154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NITI Aayog (2023), A New Lens for Innovation in New India: TCRM Matrix, p. 31.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Runs parallel to NASA TRL; with MRL forms three 'orthogonal' maturity axes.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Key concept: the binding constraint — whichever axis lags blocks progress. Rule: CRL should always ≥ TRL.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CRL 1–3 covers opportunity recognition → market sizing → competitiveness — conceptually relevant to TRL 1–3.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18 / 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CRL: the documentation problem</a:t>
            </a:r>
          </a:p>
        </p:txBody>
      </p:sp>
      <p:pic>
        <p:nvPicPr>
          <p:cNvPr id="9" name="Picture 8" descr="sourc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537960" cy="288973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583680" cy="2935455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40911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Deep Tech Leaders (2025), TRL, MRL &amp; CRL Explained, Part 1, p. 8.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Despite being one of the most-cited 'commercial readiness' concepts, CRL has NO peer-reviewed primary paper.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Exists as proprietary consultancy IP; cited by Deep Tech Leaders, ITONICS, NITI Aayog.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The '22_CRL_Abbas.pdf' in the evidence folder is a DIFFERENT EIT Urban Mobility variant — not Abbas &amp; Nomvar.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Must be cited as a practitioner framework, not an academically validated instrument.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19 / 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CRL: the commercial dimension TRL misses</a:t>
            </a:r>
          </a:p>
        </p:txBody>
      </p:sp>
      <p:pic>
        <p:nvPicPr>
          <p:cNvPr id="9" name="Picture 8" descr="sourc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260070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305790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NITI Aayog (2023), TCRM Matrix, p. 32 (identifying the limits of TRL and the need for commercial readiness).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No per-level evidence checklists, no rubric, no independent assessment protocol, no certification.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Descriptive (where you are) not prescriptive (what to do next) — unlike IRL/VIRAL.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Operationally thin at low levels: CRL 1 looks identical for a muon venture and a mobile app.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Best used as a diagnostic framing tool (a detector can be TRL 9 but CRL 1).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20 / 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Innosuisse: the native Swiss framework</a:t>
            </a:r>
          </a:p>
        </p:txBody>
      </p:sp>
      <p:pic>
        <p:nvPicPr>
          <p:cNvPr id="9" name="Picture 8" descr="sourc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4568682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614402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Innosuisse (official), Start-up Coaching overview.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~CHF 300M/yr, ~20 instruments — the most institutionally relevant framework: any NCCR venture will interact with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Coaching: Initial (CHF 10K/12 mo) → Core (CHF 50K/36 mo, milestone-gated) → Scale-up (CHF 75K/24 mo).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Voucher system: startups choose their own accredited coaches.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21 / 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Innosuisse: bespoke, voucher-based coaching</a:t>
            </a:r>
          </a:p>
        </p:txBody>
      </p:sp>
      <p:pic>
        <p:nvPicPr>
          <p:cNvPr id="9" name="Picture 8" descr="sourc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Innosuisse (official), Start-up Coaching overview, voucher-based programme description.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Coaching methodology is NOT explicitly based on I-Corps or a formal Lean Startup curriculum.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Mentor-driven, bespoke per startup — fundamentally different from I-Corps' standardized 7-week immersion.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Entrepreneurship Training (venturelab, since 2004) IS curriculum-based — alumni include Climeworks, GetYourGuide.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A direct methodological contrast for the benchmarking: mentor-driven vs methodology-driven.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22 / 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Innosuisse: KOF-verified causal effect</a:t>
            </a:r>
          </a:p>
        </p:txBody>
      </p:sp>
      <p:pic>
        <p:nvPicPr>
          <p:cNvPr id="9" name="Picture 8" descr="sourc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095999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141719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Hulfeld, F., Spescha, A. &amp; Wörter, M. (KOF ETH Zurich, 2024), Funding R&amp;D Cooperation between Firms and Universities.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Only independently verified causal estimate: +20.7% sales, +17.6% employment over 5 years (matched control of 537 firms).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Effects accelerate: employment +7.8% (yr 0) → +17.2% (yr 2) → +27.9% (yr 4).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Strongest for small firms (5–50 employees) with ETH Domain research partners.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The only framework in the benchmark with causal validation.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23 / 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Innosuisse support is stage-specific</a:t>
            </a:r>
          </a:p>
        </p:txBody>
      </p:sp>
      <p:pic>
        <p:nvPicPr>
          <p:cNvPr id="9" name="Picture 8" descr="sourc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Innosuisse (official), Start-up Coaching overview — stage-specific support and durations.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No instrument designed for TRL 1–3 commercialization; BRIDGE PoC (12 months, CHF 130K) is too short for muon validation cycles.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Coaching vouchers can't buy lab time, detector development, or validation experiments.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Vanishingly few accredited coaches have scaled particle-physics ventures.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Bottom-up model may not mobilize mission-oriented physics commercialization.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24 / 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EIC Accelerator: TRL 6–8</a:t>
            </a:r>
          </a:p>
        </p:txBody>
      </p:sp>
      <p:pic>
        <p:nvPicPr>
          <p:cNvPr id="9" name="Picture 8" descr="sourc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European Innovation Council (official), EIC Accelerator programme page.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Flagship Accelerator requires TRL 5–8 — years away for emerging muon ventures.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Blended finance (grant up to €2.5M + equity €0.5–10M); success rate 3–7% — among the most competitive globally.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Relevant early-TRL pathway: Pathfinder (TRL 1–4, €3–4M grants) + Transition (TRL 3–6), both needing international consortia.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25 / 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EIC: Switzerland fully eligible since Jan 2025</a:t>
            </a:r>
          </a:p>
        </p:txBody>
      </p:sp>
      <p:pic>
        <p:nvPicPr>
          <p:cNvPr id="9" name="Picture 8" descr="sourc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European Commission (official), International cooperation with Switzerland in research and innovation.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Swiss firms fully eligible for all instruments incl. equity; can coordinate consortia.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Feb 2026: 4 Swiss winners (Neutrality, Verity, Pregnolia, DePoly); June 2026: 4 of 38 — incl. BTRY (€2.2M) and Nanoflex (€12.5M).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Swiss EIC winners are typically Venture Kick / Venture Leaders alumni — the national pipeline prepares them.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Sequencing: Innosuisse early → EIC Pathfinder/Transition → Accelerator → STEP Scale Up.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26 / 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Candidate: CERN Venture Connect</a:t>
            </a:r>
          </a:p>
        </p:txBody>
      </p:sp>
      <p:pic>
        <p:nvPicPr>
          <p:cNvPr id="9" name="Picture 8" descr="sourc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Stryber (2025), Deep Tech commercialization in Europe — source identifying CERN Venture Connect as a relevant institutional 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CERN faces the IDENTICAL challenge as NCCR Muoniverse: fundamental particle physics → commercial applications.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CVC model: 0% equity, express agreements, curated technology portfolio, 60 partner orgs across 18 countries.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8 startups joined in 2025, collectively raising &gt;€5M.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The most directly comparable institutional model — must be benchmarked in Part 2.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27 / 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FRAMEWORK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6D4AA5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Candidate: NSF I-Corps</a:t>
            </a:r>
          </a:p>
        </p:txBody>
      </p:sp>
      <p:pic>
        <p:nvPicPr>
          <p:cNvPr id="9" name="Picture 8" descr="sourc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091545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137265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Hayter, C. S. et al. (2025), Journal of Technology Transfer, p. 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The most internationally validated early-TRL commercialization program — adopted in 8 countries (EXIST Germany, Brazil, +6).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Core methodology: lean startup + intensive customer discovery, structured 7-week immersion.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Direct comparator to Innosuisse's bespoke coaching: methodology-driven vs mentor-driven.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6D4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STRONGLY RECOMMENDED for the November 1 benchmarking milestone.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28 / 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2"/>
                </a:solidFill>
                <a:latin typeface="Arial"/>
              </a:rPr>
              <a:t>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5643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686"/>
                </a:solidFill>
                <a:latin typeface="Arial"/>
              </a:rPr>
              <a:t>Statistical evidence behind the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4096512"/>
            <a:ext cx="109728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623620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Arial"/>
              </a:rPr>
              <a:t>Milestone 1 · source-led findings deck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Market features dominate (β = 0.514)</a:t>
            </a:r>
          </a:p>
        </p:txBody>
      </p:sp>
      <p:pic>
        <p:nvPicPr>
          <p:cNvPr id="9" name="Picture 8" descr="sourc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152029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197749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Capatina, A., Bleoju, G. &amp; Kalisz, D. (2024), Journal of Innovation &amp; Knowledge 9, 100515, structural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Market features β = 0.514 — strongest predictor by far.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Technology β = 0.310, environmental β = 0.306.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Firm internal features: NOT significant.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Market identification is the single highest-leverage activity.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30 / 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Talent and knowledge drive deep tech</a:t>
            </a:r>
          </a:p>
        </p:txBody>
      </p:sp>
      <p:pic>
        <p:nvPicPr>
          <p:cNvPr id="9" name="Picture 8" descr="sourc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650404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696124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Micol, F., Leendertse, J. &amp; van Rijnsoever, F. (2026), Journal of Technology Transfer, Table 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Talent pools: IRR 1.66 — strongest predictor.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Knowledge infrastructure: IRR 1.48.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Formal institutions (policy, IP law): NOT significant.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Top 10 regions = 40% of all deep tech startups.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31 / 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Incubation: type and age matter</a:t>
            </a:r>
          </a:p>
        </p:txBody>
      </p:sp>
      <p:pic>
        <p:nvPicPr>
          <p:cNvPr id="9" name="Picture 8" descr="sourc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196793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242513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Seitz, N. et al. (2026), Review of Managerial Science, moderator 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University incubators r = 0.118 vs overall 0.067; older (&gt;20 yrs) r = 0.183; generic business incubators −0.011 (NS).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Networking service r = 0.071; mentoring r = −0.012 (NS).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Technology/R&amp;D ventures benefit more (0.082–0.130).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32 / 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Advisors: business +0.23, technology −0.31</a:t>
            </a:r>
          </a:p>
        </p:txBody>
      </p:sp>
      <p:pic>
        <p:nvPicPr>
          <p:cNvPr id="9" name="Picture 8" descr="sourc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5612832" cy="34289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5658552" cy="3474719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5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Denoo, L., Van Boxstael, A. &amp; Belz, A. (2024), Journal of Technology Transfer, p. 1585.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Each business advisor: +0.23 AR units (p = 0.04).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Each technology advisor: −0.31 AR units (p = 0.05).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4 business advisors ≈ +1 unit ≈ 15 yrs experience; 3 tech advisors ≈ −1 unit.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80%+ of ventures used at least one advisor — ubiquitous policy tool.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33 / 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TTOs become playmakers through relationships</a:t>
            </a:r>
          </a:p>
        </p:txBody>
      </p:sp>
      <p:pic>
        <p:nvPicPr>
          <p:cNvPr id="9" name="Picture 8" descr="sourc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328072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373792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Chen, Z., Little, V. &amp; Thuan, N. (2025), Journal of Technology Transfer, p. 1075.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The primary case study describes TTOs as 'playmakers' whose influence grows through relational ties and access to the wider innovation-service ecosystem.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The key mechanism visible in the source is relationship-building, not a narrow technology-transfer transaction.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The interview phase should test whether Swiss TTOs operate this way in practice.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34 / 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Switzerland: #1 per capita, 3× the runner-up</a:t>
            </a:r>
          </a:p>
        </p:txBody>
      </p:sp>
      <p:pic>
        <p:nvPicPr>
          <p:cNvPr id="9" name="Picture 8" descr="sourc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419518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465238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Deep Tech Nation Switzerland / Dealroom.co (2025), Swiss Deep Tech Report 2025, via Swiss Startup Association reproduction.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Spinout value per capita index: 100 vs 33 (runner-up).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ETH #3, EPFL #4, UZH #8 in Europe.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60–63% of Swiss VC flows to deep tech — #1 globally (China 56%, US 54%).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3 of 6 global &gt;$1B spinout exits in 2025 were Swiss (Araris, Nexthink, u-blox).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35 / 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Innosuisse Innovation Projects: 57% launch rate</a:t>
            </a:r>
          </a:p>
        </p:txBody>
      </p:sp>
      <p:pic>
        <p:nvPicPr>
          <p:cNvPr id="9" name="Picture 8" descr="sourc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841749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3887469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Innosuisse (2025), Impact monitoring 2021–2023.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57% market launch within 3 years post-funding.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2.5 highly qualified jobs per project (~800–900 FTE per cohort).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Leverage: 1 CHF → 4 CHF value added.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~50% continue with the research partner after 3 years.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36 / 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BRIDGE PoC: 70% founding rate</a:t>
            </a:r>
          </a:p>
        </p:txBody>
      </p:sp>
      <p:pic>
        <p:nvPicPr>
          <p:cNvPr id="9" name="Picture 8" descr="sourc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Innosuisse (2025), Impact monitoring 2021–2023, BRIDGE Proof of Concept.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70% of funded researchers go on to found a startup — highest conversion of any Innosuisse instrument.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CHF 130K over 12 months; 80 startups created from 121 PoC projects.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→ Proves the concept works when the timeline fits — muon timelines do not.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37 / 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KOF causal effect: +20.7% sales, +17.6% employment</a:t>
            </a:r>
          </a:p>
        </p:txBody>
      </p:sp>
      <p:pic>
        <p:nvPicPr>
          <p:cNvPr id="9" name="Picture 8" descr="sourc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095999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141719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Hulfeld, F., Spescha, A. &amp; Wörter, M. (KOF ETH Zurich, 2024), causal difference-in-differences result.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+20.7% sales and +17.6% employment over 5 years vs matched controls.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Employment effect grows: +7.8% (yr 0) → +17.2% (yr 2) → +27.9% (yr 4).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Statistically significant only for small firms (5–50 employees) with ETH Domain partners.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38 / 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The TRL 1–3 gap, visualized</a:t>
            </a:r>
          </a:p>
        </p:txBody>
      </p:sp>
      <p:pic>
        <p:nvPicPr>
          <p:cNvPr id="9" name="Picture 8" descr="sourc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3987985" cy="34289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4033705" cy="3474719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5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NITI Aayog (2023), TCRM Matrix, p. 30 (TRL scale).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RCA/Imperial: TRL 4–6. CRL: 1–9 (conceptual only). Innosuisse: 4–7. EIC: 1–8 pipeline.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Red zone = TRL 1–3 — where NCCR Muoniverse operates.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Only Innosuisse has independent causal validation (KOF DiD); only EIC publishes an assessment methodology.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39 / 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EU vs US: a 3.7× capital gap</a:t>
            </a:r>
          </a:p>
        </p:txBody>
      </p:sp>
      <p:pic>
        <p:nvPicPr>
          <p:cNvPr id="9" name="Picture 8" descr="sourc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2649681" cy="3429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2695401" cy="3474720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0176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Stryber (2025), Deep Tech commercialization in Europe.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Deep tech VC: €58B (EU) vs €215B (US) — 3.7× gap.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62% of EU investors reject failed founders vs 23% US (2.7× more risk-averse).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PhD-to-startup: 15% vs 45%; corporate engagement: 12% vs 40%.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US holds 49% of global deep tech VC.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40 / 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DATA COMPENDIUM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C76A8"/>
                </a:solidFill>
                <a:latin typeface="Arial"/>
              </a:rPr>
              <a:t>SOURCE-LED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61B22"/>
                </a:solidFill>
                <a:latin typeface="Arial"/>
              </a:rPr>
              <a:t>Deep tech: +35% time, +48% capital</a:t>
            </a:r>
          </a:p>
        </p:txBody>
      </p:sp>
      <p:pic>
        <p:nvPicPr>
          <p:cNvPr id="9" name="Picture 8" descr="sourc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720"/>
            <a:ext cx="6537960" cy="29588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" y="2308860"/>
            <a:ext cx="6583680" cy="3004544"/>
          </a:xfrm>
          <a:prstGeom prst="rect">
            <a:avLst/>
          </a:prstGeom>
          <a:noFill/>
          <a:ln w="1016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ORIGINAL SOURCE EXCERPT  ·  p. 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10000"/>
            <a:ext cx="6537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B7686"/>
                </a:solidFill>
                <a:latin typeface="Arial"/>
              </a:rPr>
              <a:t>UNDP (2025), Global Deep Tech Ecosystems, p. 54.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84831"/>
            <a:ext cx="502920" cy="32004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304287"/>
            <a:ext cx="4096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B22"/>
                </a:solidFill>
                <a:latin typeface="Arial"/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9792" y="2798063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724911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Time to milestones: 135 vs 100 (+35%).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547871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3474719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Capital required: 148 vs 100 (+48%).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4297679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3" y="4224527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Development timeline: 1–3 yrs conventional vs 5–15+ yrs deep tech.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5047488"/>
            <a:ext cx="137160" cy="16459"/>
          </a:xfrm>
          <a:prstGeom prst="rect">
            <a:avLst/>
          </a:prstGeom>
          <a:solidFill>
            <a:srgbClr val="1C7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4974336"/>
            <a:ext cx="3840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3F4A59"/>
                </a:solidFill>
                <a:latin typeface="Arial"/>
              </a:rPr>
              <a:t>97% of deep tech ventures contribute to ≥1 SDG.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28232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7686"/>
                </a:solidFill>
                <a:latin typeface="Arial"/>
              </a:rPr>
              <a:t>Lorik Dalloshi · Milestone 1 · NCCR Muoniverse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9672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6B7686"/>
                </a:solidFill>
                <a:latin typeface="Arial"/>
              </a:rPr>
              <a:t>41 / 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B7686"/>
                </a:solidFill>
                <a:latin typeface="Arial"/>
              </a:rPr>
              <a:t>NCCR MUONIVERSE  ·  HSG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8A82"/>
                </a:solidFill>
                <a:latin typeface="Arial"/>
              </a:rPr>
              <a:t>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686"/>
                </a:solidFill>
                <a:latin typeface="Arial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32688"/>
            <a:ext cx="11045952" cy="10972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23160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61B22"/>
                </a:solidFill>
                <a:latin typeface="Arial"/>
              </a:rPr>
              <a:t>Source-led evidence → interview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F4A59"/>
                </a:solidFill>
                <a:latin typeface="Arial"/>
              </a:rPr>
              <a:t>The practical conclusion: early-TRL physics commercialization is not missing ideas — it is missing a support architecture designed for the gap.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F8A82"/>
                </a:solidFill>
                <a:latin typeface="Arial"/>
              </a:rPr>
              <a:t>Next: Milestone 2 interviews · September 1,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709160"/>
            <a:ext cx="1188720" cy="36576"/>
          </a:xfrm>
          <a:prstGeom prst="rect">
            <a:avLst/>
          </a:prstGeom>
          <a:solidFill>
            <a:srgbClr val="0F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172200"/>
            <a:ext cx="9144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Arial"/>
              </a:rPr>
              <a:t>All source excerpts are embedded from the primary PDFs/pages listed beneath each image.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